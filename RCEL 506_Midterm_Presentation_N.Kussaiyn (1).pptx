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695786-5043-4877-BB8E-070D0FE597BD}" v="242" dt="2025-10-15T04:17:15.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15/10/2025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15/10/2025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15/10/2025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15/10/2025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ov.kz/memleket/entities/energ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eia.gov/international/data/world/petroleum-and-other-liquids/annual-petroleum-and-other-liquids-production?pd=5&amp;p=0000000000000000000000000000000000vg&amp;u=0&amp;f=A&amp;v=mapbubble&amp;a=-&amp;i=none&amp;vo=value&amp;t=C&amp;g=00000000000000000000000000000000000000000000000001&amp;l=249-ruvvvvvfvtvnvv1vrvvvvfvvvvvvfvvvou20evvvvvvvvvvnvvvs0008&amp;s=94694400000&amp;e=1704067200000" TargetMode="External"/><Relationship Id="rId2" Type="http://schemas.openxmlformats.org/officeDocument/2006/relationships/hyperlink" Target="https://data.worldbank.org/indicator/NY.GDP.MKTP.CD?locations=KZ"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n aerial view of a factory&#10;&#10;AI-generated content may be incorrect.">
            <a:extLst>
              <a:ext uri="{FF2B5EF4-FFF2-40B4-BE49-F238E27FC236}">
                <a16:creationId xmlns:a16="http://schemas.microsoft.com/office/drawing/2014/main" id="{DB196705-74B6-210F-87F4-5E1CF8FC2423}"/>
              </a:ext>
            </a:extLst>
          </p:cNvPr>
          <p:cNvPicPr>
            <a:picLocks noChangeAspect="1"/>
          </p:cNvPicPr>
          <p:nvPr/>
        </p:nvPicPr>
        <p:blipFill>
          <a:blip r:embed="rId2">
            <a:alphaModFix amt="50000"/>
          </a:blip>
          <a:srcRect t="3512" r="-1" b="21468"/>
          <a:stretch>
            <a:fillRect/>
          </a:stretch>
        </p:blipFill>
        <p:spPr>
          <a:xfrm>
            <a:off x="20" y="10"/>
            <a:ext cx="12188930" cy="6857990"/>
          </a:xfrm>
          <a:prstGeom prst="rect">
            <a:avLst/>
          </a:prstGeom>
        </p:spPr>
      </p:pic>
      <p:sp>
        <p:nvSpPr>
          <p:cNvPr id="2" name="Title 1"/>
          <p:cNvSpPr>
            <a:spLocks noGrp="1"/>
          </p:cNvSpPr>
          <p:nvPr>
            <p:ph type="ctrTitle"/>
          </p:nvPr>
        </p:nvSpPr>
        <p:spPr>
          <a:xfrm>
            <a:off x="1524000" y="1122363"/>
            <a:ext cx="9144000" cy="3063240"/>
          </a:xfrm>
        </p:spPr>
        <p:txBody>
          <a:bodyPr>
            <a:normAutofit/>
          </a:bodyPr>
          <a:lstStyle/>
          <a:p>
            <a:r>
              <a:rPr lang="en-GB" sz="6100">
                <a:solidFill>
                  <a:schemeClr val="bg1"/>
                </a:solidFill>
                <a:ea typeface="+mj-lt"/>
                <a:cs typeface="+mj-lt"/>
              </a:rPr>
              <a:t>How Oil Export Performance Influences GDP Growth in Kazakhstan</a:t>
            </a:r>
            <a:endParaRPr lang="en-US" sz="6100">
              <a:solidFill>
                <a:schemeClr val="bg1"/>
              </a:solidFill>
            </a:endParaRPr>
          </a:p>
        </p:txBody>
      </p:sp>
      <p:sp>
        <p:nvSpPr>
          <p:cNvPr id="3" name="Subtitle 2"/>
          <p:cNvSpPr>
            <a:spLocks noGrp="1"/>
          </p:cNvSpPr>
          <p:nvPr>
            <p:ph type="subTitle" idx="1"/>
          </p:nvPr>
        </p:nvSpPr>
        <p:spPr>
          <a:xfrm>
            <a:off x="1527048" y="4599432"/>
            <a:ext cx="9144000" cy="1536192"/>
          </a:xfrm>
        </p:spPr>
        <p:txBody>
          <a:bodyPr vert="horz" lIns="91440" tIns="45720" rIns="91440" bIns="45720" rtlCol="0" anchor="t">
            <a:normAutofit/>
          </a:bodyPr>
          <a:lstStyle/>
          <a:p>
            <a:endParaRPr lang="en-GB">
              <a:solidFill>
                <a:schemeClr val="bg1"/>
              </a:solidFill>
            </a:endParaRPr>
          </a:p>
          <a:p>
            <a:r>
              <a:rPr lang="en-GB" dirty="0">
                <a:solidFill>
                  <a:schemeClr val="bg1"/>
                </a:solidFill>
              </a:rPr>
              <a:t>by</a:t>
            </a:r>
          </a:p>
          <a:p>
            <a:r>
              <a:rPr lang="en-GB" dirty="0" err="1">
                <a:solidFill>
                  <a:schemeClr val="bg1"/>
                </a:solidFill>
              </a:rPr>
              <a:t>Nurym</a:t>
            </a:r>
            <a:r>
              <a:rPr lang="en-GB" dirty="0">
                <a:solidFill>
                  <a:schemeClr val="bg1"/>
                </a:solidFill>
              </a:rPr>
              <a:t> </a:t>
            </a:r>
            <a:r>
              <a:rPr lang="en-GB" dirty="0" err="1">
                <a:solidFill>
                  <a:schemeClr val="bg1"/>
                </a:solidFill>
              </a:rPr>
              <a:t>Kussaiyn</a:t>
            </a:r>
          </a:p>
        </p:txBody>
      </p:sp>
      <p:sp>
        <p:nvSpPr>
          <p:cNvPr id="18"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449D03-CE2B-CC21-3F14-682B3D537EC1}"/>
              </a:ext>
            </a:extLst>
          </p:cNvPr>
          <p:cNvSpPr>
            <a:spLocks noGrp="1"/>
          </p:cNvSpPr>
          <p:nvPr>
            <p:ph type="title"/>
          </p:nvPr>
        </p:nvSpPr>
        <p:spPr>
          <a:xfrm>
            <a:off x="838200" y="365125"/>
            <a:ext cx="10515600" cy="1325563"/>
          </a:xfrm>
        </p:spPr>
        <p:txBody>
          <a:bodyPr>
            <a:normAutofit/>
          </a:bodyPr>
          <a:lstStyle/>
          <a:p>
            <a:r>
              <a:rPr lang="en-GB" sz="5000">
                <a:ea typeface="+mj-lt"/>
                <a:cs typeface="+mj-lt"/>
              </a:rPr>
              <a:t>Problem Statement &amp; Literature Review</a:t>
            </a:r>
            <a:endParaRPr lang="en-US" sz="5000"/>
          </a:p>
        </p:txBody>
      </p:sp>
      <p:sp>
        <p:nvSpPr>
          <p:cNvPr id="2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2">
            <a:extLst>
              <a:ext uri="{FF2B5EF4-FFF2-40B4-BE49-F238E27FC236}">
                <a16:creationId xmlns:a16="http://schemas.microsoft.com/office/drawing/2014/main" id="{910389BA-7FB2-24B4-3795-3A34F335D634}"/>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GB" sz="2200" dirty="0">
                <a:ea typeface="+mn-lt"/>
                <a:cs typeface="+mn-lt"/>
              </a:rPr>
              <a:t>Kazakhstan's economy is heavily dependent on oil exports, which account for a significant share of GDP and government revenue. However, fluctuations in global oil trend and production volumes lead to instability in national economic growth. Understanding this relationship is critical for sustainable economic planning.</a:t>
            </a:r>
          </a:p>
          <a:p>
            <a:pPr marL="0" indent="0">
              <a:buNone/>
            </a:pPr>
            <a:r>
              <a:rPr lang="en-GB" sz="2200" i="1" dirty="0"/>
              <a:t>How strongly does Kazakhstan’s GDP growth depend on oil export performance?</a:t>
            </a:r>
          </a:p>
          <a:p>
            <a:pPr marL="0" indent="0">
              <a:buNone/>
            </a:pPr>
            <a:endParaRPr lang="en-GB" sz="2200"/>
          </a:p>
          <a:p>
            <a:pPr marL="0" indent="0">
              <a:buNone/>
            </a:pPr>
            <a:r>
              <a:rPr lang="en-GB" sz="2200" dirty="0"/>
              <a:t>Literature:</a:t>
            </a:r>
          </a:p>
          <a:p>
            <a:pPr>
              <a:buNone/>
            </a:pPr>
            <a:r>
              <a:rPr lang="en-GB" sz="1800" dirty="0">
                <a:solidFill>
                  <a:srgbClr val="1F1F1F"/>
                </a:solidFill>
                <a:hlinkClick r:id="rId2"/>
              </a:rPr>
              <a:t>Ministry of Energy of the Republic of Kazakhstan</a:t>
            </a:r>
            <a:endParaRPr lang="en-GB"/>
          </a:p>
          <a:p>
            <a:pPr>
              <a:buNone/>
            </a:pPr>
            <a:endParaRPr lang="en-GB" sz="1800" dirty="0">
              <a:solidFill>
                <a:srgbClr val="1F1F1F"/>
              </a:solidFill>
            </a:endParaRPr>
          </a:p>
          <a:p>
            <a:pPr marL="0" indent="0">
              <a:buNone/>
            </a:pPr>
            <a:endParaRPr lang="en-GB" sz="2200" dirty="0"/>
          </a:p>
          <a:p>
            <a:pPr marL="0" indent="0">
              <a:buNone/>
            </a:pPr>
            <a:endParaRPr lang="en-GB" sz="2200" dirty="0"/>
          </a:p>
          <a:p>
            <a:pPr marL="0" indent="0">
              <a:buNone/>
            </a:pPr>
            <a:endParaRPr lang="en-GB" sz="2200"/>
          </a:p>
          <a:p>
            <a:pPr marL="0" indent="0">
              <a:buNone/>
            </a:pPr>
            <a:endParaRPr lang="en-GB" sz="2200"/>
          </a:p>
        </p:txBody>
      </p:sp>
    </p:spTree>
    <p:extLst>
      <p:ext uri="{BB962C8B-B14F-4D97-AF65-F5344CB8AC3E}">
        <p14:creationId xmlns:p14="http://schemas.microsoft.com/office/powerpoint/2010/main" val="1016590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879A-1B03-9998-6C35-3A528F1E3ECE}"/>
              </a:ext>
            </a:extLst>
          </p:cNvPr>
          <p:cNvSpPr>
            <a:spLocks noGrp="1"/>
          </p:cNvSpPr>
          <p:nvPr>
            <p:ph type="title"/>
          </p:nvPr>
        </p:nvSpPr>
        <p:spPr/>
        <p:txBody>
          <a:bodyPr/>
          <a:lstStyle/>
          <a:p>
            <a:r>
              <a:rPr lang="en-GB" dirty="0">
                <a:ea typeface="+mj-lt"/>
                <a:cs typeface="+mj-lt"/>
              </a:rPr>
              <a:t>Dataset &amp; Metadata Description</a:t>
            </a:r>
            <a:endParaRPr lang="en-US" dirty="0"/>
          </a:p>
        </p:txBody>
      </p:sp>
      <p:sp>
        <p:nvSpPr>
          <p:cNvPr id="3" name="Content Placeholder 2">
            <a:extLst>
              <a:ext uri="{FF2B5EF4-FFF2-40B4-BE49-F238E27FC236}">
                <a16:creationId xmlns:a16="http://schemas.microsoft.com/office/drawing/2014/main" id="{6C7BE98C-C37A-50F1-CB21-1A7A8ED848B6}"/>
              </a:ext>
            </a:extLst>
          </p:cNvPr>
          <p:cNvSpPr>
            <a:spLocks noGrp="1"/>
          </p:cNvSpPr>
          <p:nvPr>
            <p:ph idx="1"/>
          </p:nvPr>
        </p:nvSpPr>
        <p:spPr/>
        <p:txBody>
          <a:bodyPr vert="horz" lIns="91440" tIns="45720" rIns="91440" bIns="45720" rtlCol="0" anchor="t">
            <a:normAutofit/>
          </a:bodyPr>
          <a:lstStyle/>
          <a:p>
            <a:r>
              <a:rPr lang="en-GB" sz="2200" dirty="0"/>
              <a:t>World Bank – Gross Domestic Products: </a:t>
            </a:r>
            <a:r>
              <a:rPr lang="en-US" sz="2200" dirty="0">
                <a:hlinkClick r:id="rId2"/>
              </a:rPr>
              <a:t>data</a:t>
            </a:r>
            <a:endParaRPr lang="en-US" sz="2200" dirty="0"/>
          </a:p>
          <a:p>
            <a:r>
              <a:rPr lang="en-GB" sz="2200" dirty="0"/>
              <a:t>U.S. Energy information administration - </a:t>
            </a:r>
            <a:r>
              <a:rPr lang="en-GB" sz="2200" dirty="0">
                <a:ea typeface="+mn-lt"/>
                <a:cs typeface="+mn-lt"/>
              </a:rPr>
              <a:t>crude oil production by country </a:t>
            </a:r>
            <a:r>
              <a:rPr lang="en-GB" dirty="0">
                <a:ea typeface="+mn-lt"/>
                <a:cs typeface="+mn-lt"/>
                <a:hlinkClick r:id="rId3"/>
              </a:rPr>
              <a:t>EIA data</a:t>
            </a:r>
            <a:endParaRPr lang="en-GB" dirty="0">
              <a:ea typeface="+mn-lt"/>
              <a:cs typeface="+mn-lt"/>
            </a:endParaRPr>
          </a:p>
        </p:txBody>
      </p:sp>
    </p:spTree>
    <p:extLst>
      <p:ext uri="{BB962C8B-B14F-4D97-AF65-F5344CB8AC3E}">
        <p14:creationId xmlns:p14="http://schemas.microsoft.com/office/powerpoint/2010/main" val="2273167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64A4E-22A3-5D40-C85B-61C5CA6DB6F3}"/>
              </a:ext>
            </a:extLst>
          </p:cNvPr>
          <p:cNvSpPr>
            <a:spLocks noGrp="1"/>
          </p:cNvSpPr>
          <p:nvPr>
            <p:ph type="title"/>
          </p:nvPr>
        </p:nvSpPr>
        <p:spPr/>
        <p:txBody>
          <a:bodyPr/>
          <a:lstStyle/>
          <a:p>
            <a:r>
              <a:rPr lang="en-GB" dirty="0">
                <a:ea typeface="+mj-lt"/>
                <a:cs typeface="+mj-lt"/>
              </a:rPr>
              <a:t>Hypothesis Statement</a:t>
            </a:r>
            <a:endParaRPr lang="en-US" dirty="0"/>
          </a:p>
        </p:txBody>
      </p:sp>
      <p:sp>
        <p:nvSpPr>
          <p:cNvPr id="3" name="Content Placeholder 2">
            <a:extLst>
              <a:ext uri="{FF2B5EF4-FFF2-40B4-BE49-F238E27FC236}">
                <a16:creationId xmlns:a16="http://schemas.microsoft.com/office/drawing/2014/main" id="{EF92F18E-381C-A687-02C5-4744AE3D6DC3}"/>
              </a:ext>
            </a:extLst>
          </p:cNvPr>
          <p:cNvSpPr>
            <a:spLocks noGrp="1"/>
          </p:cNvSpPr>
          <p:nvPr>
            <p:ph idx="1"/>
          </p:nvPr>
        </p:nvSpPr>
        <p:spPr/>
        <p:txBody>
          <a:bodyPr vert="horz" lIns="91440" tIns="45720" rIns="91440" bIns="45720" rtlCol="0" anchor="t">
            <a:normAutofit/>
          </a:bodyPr>
          <a:lstStyle/>
          <a:p>
            <a:r>
              <a:rPr lang="en-GB" b="1" dirty="0">
                <a:ea typeface="+mn-lt"/>
                <a:cs typeface="+mn-lt"/>
              </a:rPr>
              <a:t>Null hypothesis (H₀):</a:t>
            </a:r>
            <a:r>
              <a:rPr lang="en-GB" dirty="0">
                <a:ea typeface="+mn-lt"/>
                <a:cs typeface="+mn-lt"/>
              </a:rPr>
              <a:t> GDP growth is independent of oil exports.</a:t>
            </a:r>
            <a:endParaRPr lang="en-GB" dirty="0"/>
          </a:p>
          <a:p>
            <a:r>
              <a:rPr lang="en-GB" b="1" dirty="0">
                <a:ea typeface="+mn-lt"/>
                <a:cs typeface="+mn-lt"/>
              </a:rPr>
              <a:t>Alternative hypothesis (H₁):</a:t>
            </a:r>
            <a:r>
              <a:rPr lang="en-GB" dirty="0">
                <a:ea typeface="+mn-lt"/>
                <a:cs typeface="+mn-lt"/>
              </a:rPr>
              <a:t> GDP growth significantly depends on oil production.</a:t>
            </a:r>
            <a:endParaRPr lang="en-GB" dirty="0"/>
          </a:p>
          <a:p>
            <a:endParaRPr lang="en-GB" dirty="0"/>
          </a:p>
        </p:txBody>
      </p:sp>
    </p:spTree>
    <p:extLst>
      <p:ext uri="{BB962C8B-B14F-4D97-AF65-F5344CB8AC3E}">
        <p14:creationId xmlns:p14="http://schemas.microsoft.com/office/powerpoint/2010/main" val="2819748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394A5-3EDC-4DC4-218B-5AEDB1ED139C}"/>
              </a:ext>
            </a:extLst>
          </p:cNvPr>
          <p:cNvSpPr>
            <a:spLocks noGrp="1"/>
          </p:cNvSpPr>
          <p:nvPr>
            <p:ph type="title"/>
          </p:nvPr>
        </p:nvSpPr>
        <p:spPr>
          <a:xfrm>
            <a:off x="332282" y="2863"/>
            <a:ext cx="10515600" cy="1032006"/>
          </a:xfrm>
        </p:spPr>
        <p:txBody>
          <a:bodyPr>
            <a:noAutofit/>
          </a:bodyPr>
          <a:lstStyle/>
          <a:p>
            <a:r>
              <a:rPr lang="en-GB" sz="3600" dirty="0">
                <a:ea typeface="+mj-lt"/>
                <a:cs typeface="+mj-lt"/>
              </a:rPr>
              <a:t>Line chart of Kazakhstan’s GDP and oil export value (1993–2024).</a:t>
            </a:r>
            <a:endParaRPr lang="en-US" sz="3600" dirty="0"/>
          </a:p>
        </p:txBody>
      </p:sp>
      <p:sp>
        <p:nvSpPr>
          <p:cNvPr id="3" name="Content Placeholder 2">
            <a:extLst>
              <a:ext uri="{FF2B5EF4-FFF2-40B4-BE49-F238E27FC236}">
                <a16:creationId xmlns:a16="http://schemas.microsoft.com/office/drawing/2014/main" id="{6415D86C-EA54-F347-9541-7DA12C9EF246}"/>
              </a:ext>
            </a:extLst>
          </p:cNvPr>
          <p:cNvSpPr>
            <a:spLocks noGrp="1"/>
          </p:cNvSpPr>
          <p:nvPr>
            <p:ph idx="1"/>
          </p:nvPr>
        </p:nvSpPr>
        <p:spPr/>
        <p:txBody>
          <a:bodyPr vert="horz" lIns="91440" tIns="45720" rIns="91440" bIns="45720" rtlCol="0" anchor="t">
            <a:normAutofit/>
          </a:bodyPr>
          <a:lstStyle/>
          <a:p>
            <a:endParaRPr lang="en-GB"/>
          </a:p>
          <a:p>
            <a:endParaRPr lang="en-GB" dirty="0"/>
          </a:p>
        </p:txBody>
      </p:sp>
      <p:sp>
        <p:nvSpPr>
          <p:cNvPr id="5" name="Content Placeholder 2">
            <a:extLst>
              <a:ext uri="{FF2B5EF4-FFF2-40B4-BE49-F238E27FC236}">
                <a16:creationId xmlns:a16="http://schemas.microsoft.com/office/drawing/2014/main" id="{86DD6220-9F37-3E63-94B6-B5785C0E5789}"/>
              </a:ext>
            </a:extLst>
          </p:cNvPr>
          <p:cNvSpPr txBox="1">
            <a:spLocks/>
          </p:cNvSpPr>
          <p:nvPr/>
        </p:nvSpPr>
        <p:spPr>
          <a:xfrm>
            <a:off x="840698" y="5881714"/>
            <a:ext cx="11208895" cy="75369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ea typeface="+mn-lt"/>
                <a:cs typeface="+mn-lt"/>
              </a:rPr>
              <a:t>Line chart of Kazakhstan’s GDP and oil export value (1993–2024).</a:t>
            </a:r>
            <a:endParaRPr lang="en-GB" sz="1600" dirty="0"/>
          </a:p>
          <a:p>
            <a:r>
              <a:rPr lang="en-GB" sz="1600" dirty="0">
                <a:ea typeface="+mn-lt"/>
                <a:cs typeface="+mn-lt"/>
              </a:rPr>
              <a:t>Observation: both rise and fall together — especially in 2008 (crisis), in 2016 (oil price drop) and 2020 (COVID-19).</a:t>
            </a:r>
            <a:endParaRPr lang="en-GB" sz="1600" dirty="0"/>
          </a:p>
          <a:p>
            <a:endParaRPr lang="en-GB" sz="1600" dirty="0"/>
          </a:p>
          <a:p>
            <a:endParaRPr lang="en-GB" sz="1600" dirty="0"/>
          </a:p>
        </p:txBody>
      </p:sp>
      <p:pic>
        <p:nvPicPr>
          <p:cNvPr id="4" name="Picture 3" descr="A graph of growth of oil production&#10;&#10;AI-generated content may be incorrect.">
            <a:extLst>
              <a:ext uri="{FF2B5EF4-FFF2-40B4-BE49-F238E27FC236}">
                <a16:creationId xmlns:a16="http://schemas.microsoft.com/office/drawing/2014/main" id="{B7753AF7-D4BC-B23E-8D3D-D8A5EBDAD1BB}"/>
              </a:ext>
            </a:extLst>
          </p:cNvPr>
          <p:cNvPicPr>
            <a:picLocks noChangeAspect="1"/>
          </p:cNvPicPr>
          <p:nvPr/>
        </p:nvPicPr>
        <p:blipFill>
          <a:blip r:embed="rId2"/>
          <a:stretch>
            <a:fillRect/>
          </a:stretch>
        </p:blipFill>
        <p:spPr>
          <a:xfrm>
            <a:off x="1493899" y="1146848"/>
            <a:ext cx="8930078" cy="4566848"/>
          </a:xfrm>
          <a:prstGeom prst="rect">
            <a:avLst/>
          </a:prstGeom>
        </p:spPr>
      </p:pic>
    </p:spTree>
    <p:extLst>
      <p:ext uri="{BB962C8B-B14F-4D97-AF65-F5344CB8AC3E}">
        <p14:creationId xmlns:p14="http://schemas.microsoft.com/office/powerpoint/2010/main" val="3862837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1A881-B769-940D-BDE9-63833B5697E5}"/>
              </a:ext>
            </a:extLst>
          </p:cNvPr>
          <p:cNvSpPr>
            <a:spLocks noGrp="1"/>
          </p:cNvSpPr>
          <p:nvPr>
            <p:ph type="title"/>
          </p:nvPr>
        </p:nvSpPr>
        <p:spPr>
          <a:xfrm>
            <a:off x="630936" y="640080"/>
            <a:ext cx="4818888" cy="1481328"/>
          </a:xfrm>
        </p:spPr>
        <p:txBody>
          <a:bodyPr anchor="b">
            <a:normAutofit/>
          </a:bodyPr>
          <a:lstStyle/>
          <a:p>
            <a:r>
              <a:rPr lang="en-GB" sz="5000">
                <a:ea typeface="+mj-lt"/>
                <a:cs typeface="+mj-lt"/>
              </a:rPr>
              <a:t>Correlation Analysis</a:t>
            </a:r>
            <a:endParaRPr lang="en-US" sz="5000"/>
          </a:p>
        </p:txBody>
      </p:sp>
      <p:sp>
        <p:nvSpPr>
          <p:cNvPr id="20"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7A1050-3E52-311D-1474-D81D7CC50392}"/>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GB" sz="2200" dirty="0">
                <a:ea typeface="+mn-lt"/>
                <a:cs typeface="+mn-lt"/>
              </a:rPr>
              <a:t>Scatter plot: Oil exports vs. GDP (Correlation 0.95).</a:t>
            </a:r>
            <a:endParaRPr lang="en-GB" sz="2200" dirty="0"/>
          </a:p>
          <a:p>
            <a:r>
              <a:rPr lang="en-GB" sz="2200" dirty="0">
                <a:ea typeface="+mn-lt"/>
                <a:cs typeface="+mn-lt"/>
              </a:rPr>
              <a:t>Regression line shows 1 Mb/d rise in production → significant GDP gain.</a:t>
            </a:r>
            <a:endParaRPr lang="en-GB" sz="2200" dirty="0"/>
          </a:p>
        </p:txBody>
      </p:sp>
      <p:pic>
        <p:nvPicPr>
          <p:cNvPr id="4" name="Picture 3" descr="A graph with blue dots&#10;&#10;AI-generated content may be incorrect.">
            <a:extLst>
              <a:ext uri="{FF2B5EF4-FFF2-40B4-BE49-F238E27FC236}">
                <a16:creationId xmlns:a16="http://schemas.microsoft.com/office/drawing/2014/main" id="{69D29EB2-9770-D176-E946-E2185F00A1BA}"/>
              </a:ext>
            </a:extLst>
          </p:cNvPr>
          <p:cNvPicPr>
            <a:picLocks noChangeAspect="1"/>
          </p:cNvPicPr>
          <p:nvPr/>
        </p:nvPicPr>
        <p:blipFill>
          <a:blip r:embed="rId2"/>
          <a:stretch>
            <a:fillRect/>
          </a:stretch>
        </p:blipFill>
        <p:spPr>
          <a:xfrm>
            <a:off x="6099048" y="1231765"/>
            <a:ext cx="5458968" cy="4394469"/>
          </a:xfrm>
          <a:prstGeom prst="rect">
            <a:avLst/>
          </a:prstGeom>
        </p:spPr>
      </p:pic>
    </p:spTree>
    <p:extLst>
      <p:ext uri="{BB962C8B-B14F-4D97-AF65-F5344CB8AC3E}">
        <p14:creationId xmlns:p14="http://schemas.microsoft.com/office/powerpoint/2010/main" val="1070539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87CCA-69CC-5DAD-552A-BB99413D5375}"/>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8387934D-073F-2A11-7553-DFB65FB6BA68}"/>
              </a:ext>
            </a:extLst>
          </p:cNvPr>
          <p:cNvSpPr>
            <a:spLocks noGrp="1"/>
          </p:cNvSpPr>
          <p:nvPr>
            <p:ph idx="1"/>
          </p:nvPr>
        </p:nvSpPr>
        <p:spPr/>
        <p:txBody>
          <a:bodyPr vert="horz" lIns="91440" tIns="45720" rIns="91440" bIns="45720" rtlCol="0" anchor="t">
            <a:normAutofit/>
          </a:bodyPr>
          <a:lstStyle/>
          <a:p>
            <a:r>
              <a:rPr lang="en-GB" sz="1800" dirty="0">
                <a:solidFill>
                  <a:srgbClr val="0F1115"/>
                </a:solidFill>
                <a:ea typeface="+mn-lt"/>
                <a:cs typeface="+mn-lt"/>
              </a:rPr>
              <a:t>Based on this data, Kazakhstan's economic fortune is heavily dependent on its oil production. The near-perfect correlation shows that the country's GDP rises and falls almost directly in line with how much oil it produces.</a:t>
            </a:r>
            <a:endParaRPr lang="en-GB" sz="1400" dirty="0"/>
          </a:p>
        </p:txBody>
      </p:sp>
    </p:spTree>
    <p:extLst>
      <p:ext uri="{BB962C8B-B14F-4D97-AF65-F5344CB8AC3E}">
        <p14:creationId xmlns:p14="http://schemas.microsoft.com/office/powerpoint/2010/main" val="563185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How Oil Export Performance Influences GDP Growth in Kazakhstan</vt:lpstr>
      <vt:lpstr>Problem Statement &amp; Literature Review</vt:lpstr>
      <vt:lpstr>Dataset &amp; Metadata Description</vt:lpstr>
      <vt:lpstr>Hypothesis Statement</vt:lpstr>
      <vt:lpstr>Line chart of Kazakhstan’s GDP and oil export value (1993–2024).</vt:lpstr>
      <vt:lpstr>Correlation Analysis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122</cp:revision>
  <dcterms:created xsi:type="dcterms:W3CDTF">2025-10-14T01:02:05Z</dcterms:created>
  <dcterms:modified xsi:type="dcterms:W3CDTF">2025-10-15T17:44:13Z</dcterms:modified>
</cp:coreProperties>
</file>